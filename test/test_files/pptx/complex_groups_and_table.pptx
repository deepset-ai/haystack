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haystack.deepset.ai/" TargetMode="External"/><Relationship Id="rId3" Type="http://schemas.openxmlformats.org/officeDocument/2006/relationships/hyperlink" Target="https://www.deepset.ai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43247"/>
                </a:solidFill>
              </a:rPr>
              <a:t>PPTX extraction playground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</a:rPr>
              <a:t>One slide • text boxes • nested groups • table cells • hyperlinks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243247"/>
                </a:solidFill>
              </a:rPr>
              <a:t>PLAIN TEXTBOX</a:t>
            </a:r>
          </a:p>
          <a:p>
            <a:r>
              <a:rPr sz="1900" b="0">
                <a:solidFill>
                  <a:srgbClr val="243247"/>
                </a:solidFill>
              </a:rPr>
              <a:t>First paragraph.</a:t>
            </a:r>
          </a:p>
          <a:p>
            <a:r>
              <a:rPr sz="1900" b="0">
                <a:solidFill>
                  <a:srgbClr val="243247"/>
                </a:solidFill>
              </a:rPr>
              <a:t>Second paragraph: café, naïve, 日本語.</a:t>
            </a:r>
          </a:p>
          <a:p>
            <a:r>
              <a:rPr sz="1600">
                <a:solidFill>
                  <a:srgbClr val="2563EB"/>
                </a:solidFill>
                <a:hlinkClick r:id="rId2"/>
              </a:rPr>
              <a:t>Haystack documentation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48640" y="3200400"/>
            <a:ext cx="5029200" cy="1965960"/>
            <a:chOff x="548640" y="3200400"/>
            <a:chExt cx="5029200" cy="1965960"/>
          </a:xfrm>
        </p:grpSpPr>
        <p:sp>
          <p:nvSpPr>
            <p:cNvPr id="6" name="TextBox 5"/>
            <p:cNvSpPr txBox="1"/>
            <p:nvPr/>
          </p:nvSpPr>
          <p:spPr>
            <a:xfrm>
              <a:off x="548640" y="3200400"/>
              <a:ext cx="50292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200" b="1">
                  <a:solidFill>
                    <a:srgbClr val="0F766E"/>
                  </a:solidFill>
                </a:rPr>
                <a:t>OUTER GROUP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8640" y="3703320"/>
              <a:ext cx="50292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700" b="0">
                  <a:solidFill>
                    <a:srgbClr val="243247"/>
                  </a:solidFill>
                </a:rPr>
                <a:t>Text directly inside the outer group.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777240" y="4343400"/>
              <a:ext cx="4754880" cy="822960"/>
              <a:chOff x="777240" y="4343400"/>
              <a:chExt cx="4754880" cy="822960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777240" y="4343400"/>
                <a:ext cx="4754880" cy="822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900" b="0">
                    <a:solidFill>
                      <a:srgbClr val="243247"/>
                    </a:solidFill>
                  </a:rPr>
                  <a:t>NESTED GROUP</a:t>
                </a:r>
              </a:p>
              <a:p>
                <a:r>
                  <a:rPr sz="1900" b="0">
                    <a:solidFill>
                      <a:srgbClr val="243247"/>
                    </a:solidFill>
                  </a:rPr>
                  <a:t>Text two levels deep.</a:t>
                </a:r>
              </a:p>
              <a:p>
                <a:r>
                  <a:rPr sz="1600">
                    <a:solidFill>
                      <a:srgbClr val="2563EB"/>
                    </a:solidFill>
                    <a:hlinkClick r:id="rId3"/>
                  </a:rPr>
                  <a:t>deepset website</a:t>
                </a: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626364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766E"/>
                </a:solidFill>
              </a:rPr>
              <a:t>TABLE INSIDE A GROUP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263640" y="2194560"/>
            <a:ext cx="5349240" cy="3108960"/>
            <a:chOff x="6263640" y="2194560"/>
            <a:chExt cx="5349240" cy="3108960"/>
          </a:xfrm>
        </p:grpSpPr>
        <p:graphicFrame>
          <p:nvGraphicFramePr>
            <p:cNvPr id="11" name="Table 10"/>
            <p:cNvGraphicFramePr>
              <a:graphicFrameLocks noGrp="1"/>
            </p:cNvGraphicFramePr>
            <p:nvPr/>
          </p:nvGraphicFramePr>
          <p:xfrm>
            <a:off x="6263640" y="2194560"/>
            <a:ext cx="5349240" cy="310896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234440"/>
                  <a:gridCol w="2377440"/>
                  <a:gridCol w="1737360"/>
                </a:tblGrid>
                <a:tr h="777240">
                  <a:tc>
                    <a:txBody>
                      <a:bodyPr/>
                      <a:lstStyle/>
                      <a:p>
                        <a:r>
                          <a:rPr sz="1500" b="1">
                            <a:solidFill>
                              <a:srgbClr val="FFFFFF"/>
                            </a:solidFill>
                          </a:rPr>
                          <a:t>Case</a:t>
                        </a:r>
                      </a:p>
                    </a:txBody>
                    <a:tcPr>
                      <a:solidFill>
                        <a:srgbClr val="0F766E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1">
                            <a:solidFill>
                              <a:srgbClr val="FFFFFF"/>
                            </a:solidFill>
                          </a:rPr>
                          <a:t>Content</a:t>
                        </a:r>
                      </a:p>
                    </a:txBody>
                    <a:tcPr>
                      <a:solidFill>
                        <a:srgbClr val="0F766E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1">
                            <a:solidFill>
                              <a:srgbClr val="FFFFFF"/>
                            </a:solidFill>
                          </a:rPr>
                          <a:t>Reference</a:t>
                        </a:r>
                      </a:p>
                    </a:txBody>
                    <a:tcPr>
                      <a:solidFill>
                        <a:srgbClr val="0F766E"/>
                      </a:solidFill>
                    </a:tcPr>
                  </a:tc>
                </a:tr>
                <a:tr h="777240">
                  <a:tc>
                    <a:txBody>
                      <a:bodyPr/>
                      <a:lstStyle/>
                      <a:p>
                        <a:r>
                          <a:rPr sz="1500" b="0">
                            <a:solidFill>
                              <a:srgbClr val="243247"/>
                            </a:solidFill>
                          </a:rPr>
                          <a:t>CSV escaping</a:t>
                        </a:r>
                      </a:p>
                    </a:txBody>
                    <a:tcPr>
                      <a:solidFill>
                        <a:srgbClr val="E7F2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>
                            <a:solidFill>
                              <a:srgbClr val="243247"/>
                            </a:solidFill>
                          </a:rPr>
                          <a:t>Hello, world</a:t>
                        </a:r>
                      </a:p>
                      <a:p>
                        <a:r>
                          <a:rPr sz="1500" b="0">
                            <a:solidFill>
                              <a:srgbClr val="243247"/>
                            </a:solidFill>
                          </a:rPr>
                          <a:t>He said "yes"</a:t>
                        </a:r>
                      </a:p>
                    </a:txBody>
                    <a:tcPr>
                      <a:solidFill>
                        <a:srgbClr val="E7F2F0"/>
                      </a:solidFill>
                    </a:tcPr>
                  </a:tc>
                  <a:tc>
                    <a:txBody>
                      <a:bodyPr/>
                      <a:lstStyle/>
                      <a:p/>
                    </a:txBody>
                    <a:tcPr>
                      <a:solidFill>
                        <a:srgbClr val="E7F2F0"/>
                      </a:solidFill>
                    </a:tcPr>
                  </a:tc>
                </a:tr>
                <a:tr h="777240">
                  <a:tc>
                    <a:txBody>
                      <a:bodyPr/>
                      <a:lstStyle/>
                      <a:p>
                        <a:r>
                          <a:rPr sz="1500" b="0">
                            <a:solidFill>
                              <a:srgbClr val="243247"/>
                            </a:solidFill>
                          </a:rPr>
                          <a:t>Markdown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>
                            <a:solidFill>
                              <a:srgbClr val="243247"/>
                            </a:solidFill>
                          </a:rPr>
                          <a:t>left | right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>
                            <a:solidFill>
                              <a:srgbClr val="243247"/>
                            </a:solidFill>
                            <a:hlinkClick r:id="rId2"/>
                          </a:rPr>
                          <a:t>Docs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777240">
                  <a:tc>
                    <a:txBody>
                      <a:bodyPr/>
                      <a:lstStyle/>
                      <a:p>
                        <a:r>
                          <a:rPr sz="1500" b="0">
                            <a:solidFill>
                              <a:srgbClr val="243247"/>
                            </a:solidFill>
                          </a:rPr>
                          <a:t>Unicode</a:t>
                        </a:r>
                      </a:p>
                    </a:txBody>
                    <a:tcPr>
                      <a:solidFill>
                        <a:srgbClr val="E7F2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>
                            <a:solidFill>
                              <a:srgbClr val="243247"/>
                            </a:solidFill>
                          </a:rPr>
                          <a:t>café / 日本語</a:t>
                        </a:r>
                      </a:p>
                    </a:txBody>
                    <a:tcPr>
                      <a:solidFill>
                        <a:srgbClr val="E7F2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>
                            <a:solidFill>
                              <a:srgbClr val="243247"/>
                            </a:solidFill>
                          </a:rPr>
                          <a:t>Two</a:t>
                        </a:r>
                      </a:p>
                      <a:p>
                        <a:r>
                          <a:rPr sz="1500" b="0">
                            <a:solidFill>
                              <a:srgbClr val="243247"/>
                            </a:solidFill>
                          </a:rPr>
                          <a:t>paragraphs</a:t>
                        </a:r>
                      </a:p>
                    </a:txBody>
                    <a:tcPr>
                      <a:solidFill>
                        <a:srgbClr val="E7F2F0"/>
                      </a:solidFill>
                    </a:tcPr>
                  </a:tc>
                </a:tr>
              </a:tbl>
            </a:graphicData>
          </a:graphic>
        </p:graphicFrame>
      </p:grpSp>
      <p:sp>
        <p:nvSpPr>
          <p:cNvPr id="13" name="Oval 12"/>
          <p:cNvSpPr/>
          <p:nvPr/>
        </p:nvSpPr>
        <p:spPr>
          <a:xfrm>
            <a:off x="594360" y="6080760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9618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</a:rPr>
              <a:t>END OF SLIDE — text after the groups and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